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4ADE91-3A10-3215-3578-D4BC03007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2FF263D-2EA8-92F5-D5CD-DA1F1DA83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B268D2-131B-3A64-7E6F-EB22F98EB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6CB01E-77E8-F013-E6A0-B38291C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04F5FD-7E65-9EB0-6B0D-2BCD37A6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292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052F17-6CB6-430B-3084-ABBE9C3E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DD7182-E44B-A38A-71FE-CD88AA4AB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F0EBD3-FA20-1AA6-FDF6-FA508EF2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15C924-23B4-B8D2-212C-F3426F2F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86F4A9-58E5-D758-231D-7A84895E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35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4BD09-3BF8-A732-CAB9-E142C542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76ADE7-A842-2E1E-47BA-FF939DABA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3F8556-62E7-8BE4-2885-8BF1D017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3A5771-2FAF-41E3-B02C-FACA7DA0D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221F6E-1777-1290-9F20-976E69BB0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662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E43F98-D5C8-B691-6E72-AB9E639F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D52A3E-3A86-225B-B147-A16601A6F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1EB37F-17ED-3801-5EE2-40F47695A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C817CAA-ED8B-D5C7-105F-56D7DDE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67F86F-39BC-CE16-2649-75D6A421D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E936EE-F391-A1FE-82B4-5656DF3E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56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5B29E3-A639-0D44-E3D5-7DC34483E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62CC17-10BB-EDBB-EB7D-92CDE3C28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D27EA7C-B82D-8244-5153-16656CD5E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3C4D372-9B60-9A29-92DA-BAB3C8F14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B912A9-40E2-E3C2-1AE7-428182903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C26AE51-0BA7-AAF2-F8D6-658923FF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1BAE823-7EC8-4441-23F5-C65FCE39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3FAA1AF-C4DB-0927-8A98-FF73A921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26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80E64-456A-43D0-2E4E-30B3A780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D51341D-C436-B2BC-92E2-A171232E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5B7766-3A06-5D63-FAAE-776A5A4A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ABB86ED-3762-9010-0E09-A5D3A035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95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1B619A5-DC11-DD6E-EF91-8B7CE04B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D862F72-D345-083D-2533-A08E20CB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CE4C6F-B083-8419-9B1E-F6A5FDF5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39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CE6DC-6A41-0C5D-F774-0D1CB0B5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5AC50D-50F3-CD69-D964-57CBB844A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278FC1-2E62-2533-B230-CA6B47F39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EB5709-8A5F-CD97-6022-0B4EFD15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E52995-2EF8-770C-B2DC-53286F86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AEE9E5-7ADC-98D3-EF16-99BDBBDB8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6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213775-8424-4BDB-821B-1C708BFD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AADE24B-737B-3B8C-39EE-39909A8B6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529CA4-CF32-1195-8C34-13D457541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5351F5-2D8C-6012-65BE-6E8F7073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A5E6B3-F9F7-130D-022A-1ED79A94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54F3AE-0747-EE10-7978-6F83FD25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02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43D2A2-F289-F626-4AEA-6D547266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ACE7EF-4C1F-7845-961B-BAB87EF3A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1B64AD-FE5E-81CA-429A-D744B324B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22BEE5-CAED-D926-D45A-E62D58E1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355EDA-C205-6E23-D991-367A5F200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23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A88A402-5E10-99C3-0DCF-F3747ADE1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8FDFC51-6311-3131-0FA4-64BD7E2C0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3B9B77-54B6-5FF1-4582-EB954352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536A64-9F86-7E06-1ADF-28A6383B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FC3C51-20C9-4AC7-A6E9-E3E8A8BE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1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E7FD091-D4C7-D788-2B99-7707FB0D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2B74A9-CE69-6D6F-D5F5-E478EDB4F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7C9DE5-59A7-372C-E8F6-36B6DDC6F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928B9-A42A-4E1E-A7F0-0B1E72260E8F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6727F7-C41C-C14B-7F6A-7A62D78BC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27B4F-2BFF-46B7-5650-2311FBD5E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316D4-01B6-4EA1-8BF0-6870B4DA90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13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9A72509-96AF-6759-B4F6-BF7BAF52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翡翠流域管理費處理架構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F2B26E2-D9E0-5601-9D2F-2388A3CC6BE5}"/>
              </a:ext>
            </a:extLst>
          </p:cNvPr>
          <p:cNvSpPr/>
          <p:nvPr/>
        </p:nvSpPr>
        <p:spPr>
          <a:xfrm>
            <a:off x="3496733" y="3335867"/>
            <a:ext cx="2404534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</a:p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坪數、車位資料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D85BD5D-8B0C-0F5A-F81F-3B1E73CCCDC5}"/>
              </a:ext>
            </a:extLst>
          </p:cNvPr>
          <p:cNvSpPr/>
          <p:nvPr/>
        </p:nvSpPr>
        <p:spPr>
          <a:xfrm>
            <a:off x="1380066" y="3107268"/>
            <a:ext cx="1303867" cy="635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季繳名單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A47B4E1-F892-BF5D-E18A-1115B7E87BED}"/>
              </a:ext>
            </a:extLst>
          </p:cNvPr>
          <p:cNvSpPr/>
          <p:nvPr/>
        </p:nvSpPr>
        <p:spPr>
          <a:xfrm>
            <a:off x="1380066" y="4483100"/>
            <a:ext cx="1303867" cy="635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年繳名單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E43286A-1749-6F81-0B26-66915BC7328E}"/>
              </a:ext>
            </a:extLst>
          </p:cNvPr>
          <p:cNvSpPr/>
          <p:nvPr/>
        </p:nvSpPr>
        <p:spPr>
          <a:xfrm>
            <a:off x="3539066" y="4961468"/>
            <a:ext cx="1303867" cy="635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代繳名單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CA62EB7-8F46-75EF-7A24-08BE72017635}"/>
              </a:ext>
            </a:extLst>
          </p:cNvPr>
          <p:cNvCxnSpPr>
            <a:cxnSpLocks/>
          </p:cNvCxnSpPr>
          <p:nvPr/>
        </p:nvCxnSpPr>
        <p:spPr>
          <a:xfrm>
            <a:off x="2798234" y="3424768"/>
            <a:ext cx="601133" cy="26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D60127A-EB8D-2476-B1E1-1304F9387042}"/>
              </a:ext>
            </a:extLst>
          </p:cNvPr>
          <p:cNvCxnSpPr>
            <a:cxnSpLocks/>
          </p:cNvCxnSpPr>
          <p:nvPr/>
        </p:nvCxnSpPr>
        <p:spPr>
          <a:xfrm flipV="1">
            <a:off x="2832669" y="4195513"/>
            <a:ext cx="524934" cy="436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9ED35B3-2C8D-C33F-CE68-79EA3578B03E}"/>
              </a:ext>
            </a:extLst>
          </p:cNvPr>
          <p:cNvCxnSpPr>
            <a:cxnSpLocks/>
          </p:cNvCxnSpPr>
          <p:nvPr/>
        </p:nvCxnSpPr>
        <p:spPr>
          <a:xfrm flipV="1">
            <a:off x="4250267" y="4360334"/>
            <a:ext cx="182032" cy="491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6C1E2D1-07F6-EA59-4097-683D4A03226F}"/>
              </a:ext>
            </a:extLst>
          </p:cNvPr>
          <p:cNvSpPr txBox="1"/>
          <p:nvPr/>
        </p:nvSpPr>
        <p:spPr>
          <a:xfrm>
            <a:off x="1012673" y="19160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元大銀行網頁</a:t>
            </a: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27B394A8-87E5-A553-1B42-4E3E52478C5A}"/>
              </a:ext>
            </a:extLst>
          </p:cNvPr>
          <p:cNvSpPr/>
          <p:nvPr/>
        </p:nvSpPr>
        <p:spPr>
          <a:xfrm>
            <a:off x="2683933" y="1972733"/>
            <a:ext cx="381000" cy="2677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75CE07EA-B71C-9042-ACC6-766A028F8C79}"/>
              </a:ext>
            </a:extLst>
          </p:cNvPr>
          <p:cNvSpPr/>
          <p:nvPr/>
        </p:nvSpPr>
        <p:spPr>
          <a:xfrm>
            <a:off x="3399367" y="1789099"/>
            <a:ext cx="1443566" cy="635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當期未銷帳清單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E2A1D33-FFED-35A7-B2FD-0540873F426E}"/>
              </a:ext>
            </a:extLst>
          </p:cNvPr>
          <p:cNvCxnSpPr>
            <a:cxnSpLocks/>
          </p:cNvCxnSpPr>
          <p:nvPr/>
        </p:nvCxnSpPr>
        <p:spPr>
          <a:xfrm>
            <a:off x="4250267" y="2602456"/>
            <a:ext cx="182032" cy="599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4B726D5-88E9-722B-170E-B8A086FED721}"/>
              </a:ext>
            </a:extLst>
          </p:cNvPr>
          <p:cNvCxnSpPr>
            <a:cxnSpLocks/>
          </p:cNvCxnSpPr>
          <p:nvPr/>
        </p:nvCxnSpPr>
        <p:spPr>
          <a:xfrm flipV="1">
            <a:off x="6122135" y="3090840"/>
            <a:ext cx="922132" cy="480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BFE77101-BB7B-99E6-C8E0-D4832D564952}"/>
              </a:ext>
            </a:extLst>
          </p:cNvPr>
          <p:cNvSpPr/>
          <p:nvPr/>
        </p:nvSpPr>
        <p:spPr>
          <a:xfrm>
            <a:off x="7322340" y="2584586"/>
            <a:ext cx="1718732" cy="635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自動扣繳清冊</a:t>
            </a:r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DBADA75-04AE-B387-6FD5-1E469C58E9B4}"/>
              </a:ext>
            </a:extLst>
          </p:cNvPr>
          <p:cNvSpPr/>
          <p:nvPr/>
        </p:nvSpPr>
        <p:spPr>
          <a:xfrm>
            <a:off x="9319145" y="2791373"/>
            <a:ext cx="381000" cy="2677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7B1B0FF-A07A-55FA-D731-D0A5DEA37754}"/>
              </a:ext>
            </a:extLst>
          </p:cNvPr>
          <p:cNvSpPr txBox="1"/>
          <p:nvPr/>
        </p:nvSpPr>
        <p:spPr>
          <a:xfrm>
            <a:off x="9807939" y="27119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元大櫃台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3EB3D37-0F6D-25F6-F87B-91D3775233BD}"/>
              </a:ext>
            </a:extLst>
          </p:cNvPr>
          <p:cNvSpPr/>
          <p:nvPr/>
        </p:nvSpPr>
        <p:spPr>
          <a:xfrm>
            <a:off x="7322340" y="3701014"/>
            <a:ext cx="1303866" cy="8604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</a:p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繳費資料</a:t>
            </a:r>
          </a:p>
        </p:txBody>
      </p: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7EB15ABB-D358-FFCF-80FF-F9F652824B0A}"/>
              </a:ext>
            </a:extLst>
          </p:cNvPr>
          <p:cNvSpPr/>
          <p:nvPr/>
        </p:nvSpPr>
        <p:spPr>
          <a:xfrm>
            <a:off x="9008533" y="3988366"/>
            <a:ext cx="381000" cy="2677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3DA6DD3-D9CE-2DAD-B9E2-EFF7F138B097}"/>
              </a:ext>
            </a:extLst>
          </p:cNvPr>
          <p:cNvSpPr txBox="1"/>
          <p:nvPr/>
        </p:nvSpPr>
        <p:spPr>
          <a:xfrm>
            <a:off x="9443241" y="393756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元大銀行網頁</a:t>
            </a:r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FF1F5E92-9759-E875-B0D8-E174D0F9C690}"/>
              </a:ext>
            </a:extLst>
          </p:cNvPr>
          <p:cNvSpPr/>
          <p:nvPr/>
        </p:nvSpPr>
        <p:spPr>
          <a:xfrm rot="5400000">
            <a:off x="10037571" y="4524403"/>
            <a:ext cx="381000" cy="2677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EB30A283-81E1-F453-500C-3B0BD9C96EF5}"/>
              </a:ext>
            </a:extLst>
          </p:cNvPr>
          <p:cNvSpPr/>
          <p:nvPr/>
        </p:nvSpPr>
        <p:spPr>
          <a:xfrm>
            <a:off x="9311670" y="5072106"/>
            <a:ext cx="1832802" cy="7942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下載虛擬帳號繳費單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4F4AAE31-36DC-17F3-FF88-EA9DB9FA9EAF}"/>
              </a:ext>
            </a:extLst>
          </p:cNvPr>
          <p:cNvCxnSpPr>
            <a:cxnSpLocks/>
          </p:cNvCxnSpPr>
          <p:nvPr/>
        </p:nvCxnSpPr>
        <p:spPr>
          <a:xfrm>
            <a:off x="6096000" y="3974866"/>
            <a:ext cx="948267" cy="15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箭號: 向右 41">
            <a:extLst>
              <a:ext uri="{FF2B5EF4-FFF2-40B4-BE49-F238E27FC236}">
                <a16:creationId xmlns:a16="http://schemas.microsoft.com/office/drawing/2014/main" id="{1D4F1E67-9E12-0402-3A0B-7A48EB56B8CE}"/>
              </a:ext>
            </a:extLst>
          </p:cNvPr>
          <p:cNvSpPr/>
          <p:nvPr/>
        </p:nvSpPr>
        <p:spPr>
          <a:xfrm>
            <a:off x="5177367" y="1954477"/>
            <a:ext cx="381000" cy="2677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61FC2F5-C068-CD9F-B8A8-F41215559B4B}"/>
              </a:ext>
            </a:extLst>
          </p:cNvPr>
          <p:cNvSpPr txBox="1"/>
          <p:nvPr/>
        </p:nvSpPr>
        <p:spPr>
          <a:xfrm>
            <a:off x="5669909" y="18912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欠繳公告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E7A173-1C96-DB9F-F2DF-F5DB75151CF8}"/>
              </a:ext>
            </a:extLst>
          </p:cNvPr>
          <p:cNvSpPr txBox="1"/>
          <p:nvPr/>
        </p:nvSpPr>
        <p:spPr>
          <a:xfrm>
            <a:off x="2282904" y="15097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當月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E15DB23-9CEA-A72F-6CB2-83193D592C33}"/>
              </a:ext>
            </a:extLst>
          </p:cNvPr>
          <p:cNvSpPr txBox="1"/>
          <p:nvPr/>
        </p:nvSpPr>
        <p:spPr>
          <a:xfrm>
            <a:off x="9070011" y="23039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次月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AD9A6D-634A-1B5D-2736-D9494F3490C5}"/>
              </a:ext>
            </a:extLst>
          </p:cNvPr>
          <p:cNvSpPr txBox="1"/>
          <p:nvPr/>
        </p:nvSpPr>
        <p:spPr>
          <a:xfrm>
            <a:off x="8744743" y="35517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當月底前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421DC36-F881-1410-F14E-A2ABF38B99D5}"/>
              </a:ext>
            </a:extLst>
          </p:cNvPr>
          <p:cNvSpPr/>
          <p:nvPr/>
        </p:nvSpPr>
        <p:spPr>
          <a:xfrm>
            <a:off x="5338033" y="4961468"/>
            <a:ext cx="1303867" cy="635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行政規費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32926B79-F474-14A2-49AB-B7DDB7CA3B2C}"/>
              </a:ext>
            </a:extLst>
          </p:cNvPr>
          <p:cNvCxnSpPr>
            <a:cxnSpLocks/>
          </p:cNvCxnSpPr>
          <p:nvPr/>
        </p:nvCxnSpPr>
        <p:spPr>
          <a:xfrm flipH="1" flipV="1">
            <a:off x="5669909" y="4391569"/>
            <a:ext cx="292543" cy="459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99084152-7FF1-987E-C86E-F026563A8E03}"/>
              </a:ext>
            </a:extLst>
          </p:cNvPr>
          <p:cNvSpPr/>
          <p:nvPr/>
        </p:nvSpPr>
        <p:spPr>
          <a:xfrm>
            <a:off x="3121990" y="2461155"/>
            <a:ext cx="5948021" cy="2309812"/>
          </a:xfrm>
          <a:prstGeom prst="roundRect">
            <a:avLst/>
          </a:prstGeom>
          <a:noFill/>
          <a:ln w="28575"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6F049F5-06D2-2A8C-2F8D-0270F95F6332}"/>
              </a:ext>
            </a:extLst>
          </p:cNvPr>
          <p:cNvSpPr txBox="1"/>
          <p:nvPr/>
        </p:nvSpPr>
        <p:spPr>
          <a:xfrm>
            <a:off x="7422787" y="47709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自動處理</a:t>
            </a:r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D629523-A4C1-7334-E36B-1B3A24530945}"/>
              </a:ext>
            </a:extLst>
          </p:cNvPr>
          <p:cNvCxnSpPr>
            <a:cxnSpLocks/>
          </p:cNvCxnSpPr>
          <p:nvPr/>
        </p:nvCxnSpPr>
        <p:spPr>
          <a:xfrm flipH="1" flipV="1">
            <a:off x="2806700" y="3618041"/>
            <a:ext cx="530823" cy="253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0E82B6B2-DBB7-4C98-97E2-64C1726FD6ED}"/>
              </a:ext>
            </a:extLst>
          </p:cNvPr>
          <p:cNvCxnSpPr>
            <a:cxnSpLocks/>
          </p:cNvCxnSpPr>
          <p:nvPr/>
        </p:nvCxnSpPr>
        <p:spPr>
          <a:xfrm flipH="1">
            <a:off x="2890379" y="4364009"/>
            <a:ext cx="524578" cy="445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766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F757E7-B249-6BFB-B522-7287C464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每月工作日程</a:t>
            </a:r>
          </a:p>
        </p:txBody>
      </p:sp>
      <p:sp>
        <p:nvSpPr>
          <p:cNvPr id="3" name="箭號: ＞形 2">
            <a:extLst>
              <a:ext uri="{FF2B5EF4-FFF2-40B4-BE49-F238E27FC236}">
                <a16:creationId xmlns:a16="http://schemas.microsoft.com/office/drawing/2014/main" id="{105182E4-5EC1-3DA2-3A7D-7689D5CF9945}"/>
              </a:ext>
            </a:extLst>
          </p:cNvPr>
          <p:cNvSpPr/>
          <p:nvPr/>
        </p:nvSpPr>
        <p:spPr>
          <a:xfrm>
            <a:off x="1413932" y="1775355"/>
            <a:ext cx="4284133" cy="883179"/>
          </a:xfrm>
          <a:prstGeom prst="chevron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1~15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繳款期間</a:t>
            </a:r>
          </a:p>
        </p:txBody>
      </p:sp>
      <p:sp>
        <p:nvSpPr>
          <p:cNvPr id="4" name="箭號: ＞形 3">
            <a:extLst>
              <a:ext uri="{FF2B5EF4-FFF2-40B4-BE49-F238E27FC236}">
                <a16:creationId xmlns:a16="http://schemas.microsoft.com/office/drawing/2014/main" id="{0E6F4757-A7AC-F554-EDB3-07F4D2BF641E}"/>
              </a:ext>
            </a:extLst>
          </p:cNvPr>
          <p:cNvSpPr/>
          <p:nvPr/>
        </p:nvSpPr>
        <p:spPr>
          <a:xfrm>
            <a:off x="5291665" y="1775355"/>
            <a:ext cx="2683935" cy="883179"/>
          </a:xfrm>
          <a:prstGeom prst="chevron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15~22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超商作業等待期</a:t>
            </a:r>
          </a:p>
        </p:txBody>
      </p:sp>
      <p:sp>
        <p:nvSpPr>
          <p:cNvPr id="5" name="箭號: ＞形 4">
            <a:extLst>
              <a:ext uri="{FF2B5EF4-FFF2-40B4-BE49-F238E27FC236}">
                <a16:creationId xmlns:a16="http://schemas.microsoft.com/office/drawing/2014/main" id="{C6C3FF7F-D3F2-9976-6032-8FFD857D2062}"/>
              </a:ext>
            </a:extLst>
          </p:cNvPr>
          <p:cNvSpPr/>
          <p:nvPr/>
        </p:nvSpPr>
        <p:spPr>
          <a:xfrm>
            <a:off x="7569199" y="1775354"/>
            <a:ext cx="2683935" cy="883179"/>
          </a:xfrm>
          <a:prstGeom prst="chevron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22~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月底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本期欠費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產生下期繳費資料</a:t>
            </a:r>
          </a:p>
        </p:txBody>
      </p:sp>
      <p:sp>
        <p:nvSpPr>
          <p:cNvPr id="6" name="圖說文字: 折線 5">
            <a:extLst>
              <a:ext uri="{FF2B5EF4-FFF2-40B4-BE49-F238E27FC236}">
                <a16:creationId xmlns:a16="http://schemas.microsoft.com/office/drawing/2014/main" id="{55D6A67E-23D4-F673-CA0E-6112F863CBE4}"/>
              </a:ext>
            </a:extLst>
          </p:cNvPr>
          <p:cNvSpPr/>
          <p:nvPr/>
        </p:nvSpPr>
        <p:spPr>
          <a:xfrm>
            <a:off x="1752598" y="3293534"/>
            <a:ext cx="3539067" cy="1092200"/>
          </a:xfrm>
          <a:prstGeom prst="borderCallout2">
            <a:avLst>
              <a:gd name="adj1" fmla="val -9157"/>
              <a:gd name="adj2" fmla="val 49084"/>
              <a:gd name="adj3" fmla="val -23111"/>
              <a:gd name="adj4" fmla="val 61084"/>
              <a:gd name="adj5" fmla="val -47903"/>
              <a:gd name="adj6" fmla="val 60942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可視需求隨時下載銷帳清單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不須對帳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，即時掌握各戶繳款狀況。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不建議使用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圖說文字: 折線 6">
            <a:extLst>
              <a:ext uri="{FF2B5EF4-FFF2-40B4-BE49-F238E27FC236}">
                <a16:creationId xmlns:a16="http://schemas.microsoft.com/office/drawing/2014/main" id="{C742EA98-E6DF-832C-5FF5-ECC24310F99C}"/>
              </a:ext>
            </a:extLst>
          </p:cNvPr>
          <p:cNvSpPr/>
          <p:nvPr/>
        </p:nvSpPr>
        <p:spPr>
          <a:xfrm>
            <a:off x="6096000" y="3274484"/>
            <a:ext cx="2861735" cy="609599"/>
          </a:xfrm>
          <a:prstGeom prst="borderCallout2">
            <a:avLst>
              <a:gd name="adj1" fmla="val 55313"/>
              <a:gd name="adj2" fmla="val 103083"/>
              <a:gd name="adj3" fmla="val 12395"/>
              <a:gd name="adj4" fmla="val 112095"/>
              <a:gd name="adj5" fmla="val -87230"/>
              <a:gd name="adj6" fmla="val 111897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下載未銷帳清單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不須對帳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，依據清單公告並催繳。</a:t>
            </a:r>
          </a:p>
        </p:txBody>
      </p:sp>
      <p:sp>
        <p:nvSpPr>
          <p:cNvPr id="8" name="圖說文字: 折線 7">
            <a:extLst>
              <a:ext uri="{FF2B5EF4-FFF2-40B4-BE49-F238E27FC236}">
                <a16:creationId xmlns:a16="http://schemas.microsoft.com/office/drawing/2014/main" id="{5785D940-E6B5-4A8A-2FE8-16E5F630C69E}"/>
              </a:ext>
            </a:extLst>
          </p:cNvPr>
          <p:cNvSpPr/>
          <p:nvPr/>
        </p:nvSpPr>
        <p:spPr>
          <a:xfrm>
            <a:off x="6095999" y="4169834"/>
            <a:ext cx="2861735" cy="609600"/>
          </a:xfrm>
          <a:prstGeom prst="borderCallout2">
            <a:avLst>
              <a:gd name="adj1" fmla="val 44023"/>
              <a:gd name="adj2" fmla="val 104562"/>
              <a:gd name="adj3" fmla="val -26449"/>
              <a:gd name="adj4" fmla="val 118013"/>
              <a:gd name="adj5" fmla="val -235455"/>
              <a:gd name="adj6" fmla="val 118272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主檔。自動產生代繳清冊與上傳資料。</a:t>
            </a:r>
          </a:p>
        </p:txBody>
      </p:sp>
      <p:sp>
        <p:nvSpPr>
          <p:cNvPr id="9" name="圖說文字: 折線 8">
            <a:extLst>
              <a:ext uri="{FF2B5EF4-FFF2-40B4-BE49-F238E27FC236}">
                <a16:creationId xmlns:a16="http://schemas.microsoft.com/office/drawing/2014/main" id="{244B3D52-7805-EEAD-F8FA-D90BEB7F93BC}"/>
              </a:ext>
            </a:extLst>
          </p:cNvPr>
          <p:cNvSpPr/>
          <p:nvPr/>
        </p:nvSpPr>
        <p:spPr>
          <a:xfrm>
            <a:off x="6095999" y="5065185"/>
            <a:ext cx="2861735" cy="609601"/>
          </a:xfrm>
          <a:prstGeom prst="borderCallout2">
            <a:avLst>
              <a:gd name="adj1" fmla="val 46532"/>
              <a:gd name="adj2" fmla="val -4018"/>
              <a:gd name="adj3" fmla="val -7004"/>
              <a:gd name="adj4" fmla="val -10981"/>
              <a:gd name="adj5" fmla="val -370760"/>
              <a:gd name="adj6" fmla="val -11477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次月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日至元大櫃台繳交代繳清冊</a:t>
            </a:r>
          </a:p>
        </p:txBody>
      </p:sp>
      <p:sp>
        <p:nvSpPr>
          <p:cNvPr id="10" name="圖說文字: 折線 9">
            <a:extLst>
              <a:ext uri="{FF2B5EF4-FFF2-40B4-BE49-F238E27FC236}">
                <a16:creationId xmlns:a16="http://schemas.microsoft.com/office/drawing/2014/main" id="{99E7ADED-8CE3-6BDE-E19C-A733774561EA}"/>
              </a:ext>
            </a:extLst>
          </p:cNvPr>
          <p:cNvSpPr/>
          <p:nvPr/>
        </p:nvSpPr>
        <p:spPr>
          <a:xfrm>
            <a:off x="6095999" y="5960537"/>
            <a:ext cx="2861735" cy="316441"/>
          </a:xfrm>
          <a:prstGeom prst="borderCallout2">
            <a:avLst>
              <a:gd name="adj1" fmla="val 48557"/>
              <a:gd name="adj2" fmla="val 103674"/>
              <a:gd name="adj3" fmla="val -119583"/>
              <a:gd name="adj4" fmla="val 125409"/>
              <a:gd name="adj5" fmla="val -1020750"/>
              <a:gd name="adj6" fmla="val 124339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下載繳費單並分發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C7B561-6BC6-2744-7DC5-3B2B0D513236}"/>
              </a:ext>
            </a:extLst>
          </p:cNvPr>
          <p:cNvSpPr/>
          <p:nvPr/>
        </p:nvSpPr>
        <p:spPr>
          <a:xfrm>
            <a:off x="1752599" y="5184778"/>
            <a:ext cx="2565402" cy="10922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每季更新季繳清單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每年更新年繳清單</a:t>
            </a:r>
          </a:p>
        </p:txBody>
      </p:sp>
    </p:spTree>
    <p:extLst>
      <p:ext uri="{BB962C8B-B14F-4D97-AF65-F5344CB8AC3E}">
        <p14:creationId xmlns:p14="http://schemas.microsoft.com/office/powerpoint/2010/main" val="130690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BA9249-1CD2-DD39-4FF6-F271DF1D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繳款工作的新概念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AA674-C079-43A7-C97B-502CC394D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不必拘泥於每月帳務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虛擬帳號與自動對帳是一套強大的系統，可以彈性運用。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每月將每戶過去帳務結合在一張繳款單裡，不再需要補單，也大幅降低帳務複雜度。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所有電腦前的工作，都讓電腦自行完成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繳費工作相對呆板而重複性高，適合讓電腦去做。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請勿人工對帳，這件事情電腦比你內行。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有了堅固的基礎架構，就容易衍生方便住戶的服務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Email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繳費單作業可自動完成。郵寄或信箱投遞可自動完成準備與分類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社區開啟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商用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ID(200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則以內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月費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bot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自動通知住戶繳費狀況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管理費處理人員須通過翡翠流域洗錢防治課程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避免虛擬帳戶成為洗錢管道。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455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597E80-B617-84B6-F18D-2A1CAABF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資料與程序關係圖</a:t>
            </a:r>
          </a:p>
        </p:txBody>
      </p:sp>
      <p:sp>
        <p:nvSpPr>
          <p:cNvPr id="4" name="平行四邊形 3">
            <a:extLst>
              <a:ext uri="{FF2B5EF4-FFF2-40B4-BE49-F238E27FC236}">
                <a16:creationId xmlns:a16="http://schemas.microsoft.com/office/drawing/2014/main" id="{A59AC9B9-00A8-6144-D31E-39A17483C81E}"/>
              </a:ext>
            </a:extLst>
          </p:cNvPr>
          <p:cNvSpPr/>
          <p:nvPr/>
        </p:nvSpPr>
        <p:spPr>
          <a:xfrm>
            <a:off x="2235200" y="2344204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季年繳戶</a:t>
            </a:r>
          </a:p>
        </p:txBody>
      </p:sp>
      <p:sp>
        <p:nvSpPr>
          <p:cNvPr id="5" name="平行四邊形 4">
            <a:extLst>
              <a:ext uri="{FF2B5EF4-FFF2-40B4-BE49-F238E27FC236}">
                <a16:creationId xmlns:a16="http://schemas.microsoft.com/office/drawing/2014/main" id="{44FF2509-8630-9296-38A7-F29A9429EEB6}"/>
              </a:ext>
            </a:extLst>
          </p:cNvPr>
          <p:cNvSpPr/>
          <p:nvPr/>
        </p:nvSpPr>
        <p:spPr>
          <a:xfrm>
            <a:off x="2235200" y="3233206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基本資料</a:t>
            </a:r>
          </a:p>
        </p:txBody>
      </p:sp>
      <p:sp>
        <p:nvSpPr>
          <p:cNvPr id="6" name="平行四邊形 5">
            <a:extLst>
              <a:ext uri="{FF2B5EF4-FFF2-40B4-BE49-F238E27FC236}">
                <a16:creationId xmlns:a16="http://schemas.microsoft.com/office/drawing/2014/main" id="{8EBC561A-6555-A456-76E1-26E0896FEDBD}"/>
              </a:ext>
            </a:extLst>
          </p:cNvPr>
          <p:cNvSpPr/>
          <p:nvPr/>
        </p:nvSpPr>
        <p:spPr>
          <a:xfrm>
            <a:off x="2286000" y="4122208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坪數車位</a:t>
            </a: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D9BBE58E-F1C3-0E94-597C-AEB29902316F}"/>
              </a:ext>
            </a:extLst>
          </p:cNvPr>
          <p:cNvSpPr/>
          <p:nvPr/>
        </p:nvSpPr>
        <p:spPr>
          <a:xfrm>
            <a:off x="2285999" y="5011208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區權人資料</a:t>
            </a:r>
          </a:p>
        </p:txBody>
      </p:sp>
      <p:sp>
        <p:nvSpPr>
          <p:cNvPr id="8" name="平行四邊形 7">
            <a:extLst>
              <a:ext uri="{FF2B5EF4-FFF2-40B4-BE49-F238E27FC236}">
                <a16:creationId xmlns:a16="http://schemas.microsoft.com/office/drawing/2014/main" id="{CC100226-5BDC-D0DF-B530-4F69FA0A0C2F}"/>
              </a:ext>
            </a:extLst>
          </p:cNvPr>
          <p:cNvSpPr/>
          <p:nvPr/>
        </p:nvSpPr>
        <p:spPr>
          <a:xfrm>
            <a:off x="2285998" y="5900208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代繳授權清冊</a:t>
            </a:r>
          </a:p>
        </p:txBody>
      </p:sp>
      <p:sp>
        <p:nvSpPr>
          <p:cNvPr id="9" name="平行四邊形 8">
            <a:extLst>
              <a:ext uri="{FF2B5EF4-FFF2-40B4-BE49-F238E27FC236}">
                <a16:creationId xmlns:a16="http://schemas.microsoft.com/office/drawing/2014/main" id="{A8F68DE8-3BE3-8261-8D2B-C7C836DCF0DA}"/>
              </a:ext>
            </a:extLst>
          </p:cNvPr>
          <p:cNvSpPr/>
          <p:nvPr/>
        </p:nvSpPr>
        <p:spPr>
          <a:xfrm>
            <a:off x="2286000" y="1455202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未銷帳清單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465B7F3-6D3A-AC45-EEED-4516F36F5DD5}"/>
              </a:ext>
            </a:extLst>
          </p:cNvPr>
          <p:cNvSpPr txBox="1"/>
          <p:nvPr/>
        </p:nvSpPr>
        <p:spPr>
          <a:xfrm>
            <a:off x="516467" y="42338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內部資料</a:t>
            </a:r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1C9FAC79-E973-3AD6-B92C-C936BA97F17F}"/>
              </a:ext>
            </a:extLst>
          </p:cNvPr>
          <p:cNvSpPr/>
          <p:nvPr/>
        </p:nvSpPr>
        <p:spPr>
          <a:xfrm>
            <a:off x="1624463" y="2344204"/>
            <a:ext cx="289004" cy="4148671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FBF0AB-9866-2FFE-8A4C-34AEF81D2B7D}"/>
              </a:ext>
            </a:extLst>
          </p:cNvPr>
          <p:cNvSpPr/>
          <p:nvPr/>
        </p:nvSpPr>
        <p:spPr>
          <a:xfrm>
            <a:off x="4754033" y="1509440"/>
            <a:ext cx="2057400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importDeficitFile</a:t>
            </a:r>
            <a:endParaRPr lang="zh-TW" altLang="en-US" sz="12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B0BAFE1-341E-9006-49EB-275C5D896B46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 flipV="1">
            <a:off x="3244850" y="1750740"/>
            <a:ext cx="1509183" cy="7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平行四邊形 16">
            <a:extLst>
              <a:ext uri="{FF2B5EF4-FFF2-40B4-BE49-F238E27FC236}">
                <a16:creationId xmlns:a16="http://schemas.microsoft.com/office/drawing/2014/main" id="{E4955B0E-1C88-FA5B-08C6-7F3A9875B4FD}"/>
              </a:ext>
            </a:extLst>
          </p:cNvPr>
          <p:cNvSpPr/>
          <p:nvPr/>
        </p:nvSpPr>
        <p:spPr>
          <a:xfrm>
            <a:off x="5748602" y="2353990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上期欠繳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AED08D5-5098-6418-ACBB-7B4287B5060F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335977" y="2002621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1F95195-1150-DAA5-3053-24CDF1798813}"/>
              </a:ext>
            </a:extLst>
          </p:cNvPr>
          <p:cNvSpPr/>
          <p:nvPr/>
        </p:nvSpPr>
        <p:spPr>
          <a:xfrm>
            <a:off x="4144433" y="4142309"/>
            <a:ext cx="2057400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feeThisMonth</a:t>
            </a:r>
            <a:endParaRPr lang="zh-TW" altLang="en-US" sz="12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ECB861E-5C42-3FE4-16E8-926B60E58B8D}"/>
              </a:ext>
            </a:extLst>
          </p:cNvPr>
          <p:cNvCxnSpPr>
            <a:cxnSpLocks/>
          </p:cNvCxnSpPr>
          <p:nvPr/>
        </p:nvCxnSpPr>
        <p:spPr>
          <a:xfrm>
            <a:off x="3621615" y="3529537"/>
            <a:ext cx="10584" cy="177800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791B3973-2684-FEB0-E8C7-701A05BF7D91}"/>
              </a:ext>
            </a:extLst>
          </p:cNvPr>
          <p:cNvCxnSpPr>
            <a:cxnSpLocks/>
          </p:cNvCxnSpPr>
          <p:nvPr/>
        </p:nvCxnSpPr>
        <p:spPr>
          <a:xfrm flipH="1">
            <a:off x="3188758" y="3529537"/>
            <a:ext cx="438149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D007C59-0C24-1AB9-1A4F-F4B57B0FB067}"/>
              </a:ext>
            </a:extLst>
          </p:cNvPr>
          <p:cNvCxnSpPr>
            <a:cxnSpLocks/>
            <a:endCxn id="6" idx="2"/>
          </p:cNvCxnSpPr>
          <p:nvPr/>
        </p:nvCxnSpPr>
        <p:spPr>
          <a:xfrm flipH="1">
            <a:off x="3244850" y="4418537"/>
            <a:ext cx="382057" cy="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B34B3633-FAE7-5036-D22A-EA90574DF99D}"/>
              </a:ext>
            </a:extLst>
          </p:cNvPr>
          <p:cNvCxnSpPr>
            <a:cxnSpLocks/>
            <a:endCxn id="7" idx="2"/>
          </p:cNvCxnSpPr>
          <p:nvPr/>
        </p:nvCxnSpPr>
        <p:spPr>
          <a:xfrm flipH="1">
            <a:off x="3244849" y="5307540"/>
            <a:ext cx="376766" cy="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4B6BFEE7-1D4C-A0BF-4BB4-D5F8BE49C141}"/>
              </a:ext>
            </a:extLst>
          </p:cNvPr>
          <p:cNvCxnSpPr>
            <a:cxnSpLocks/>
          </p:cNvCxnSpPr>
          <p:nvPr/>
        </p:nvCxnSpPr>
        <p:spPr>
          <a:xfrm flipV="1">
            <a:off x="3632199" y="4383608"/>
            <a:ext cx="493183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8E69B034-2E48-BAD6-8EC1-3E7C6B65A9E6}"/>
              </a:ext>
            </a:extLst>
          </p:cNvPr>
          <p:cNvCxnSpPr>
            <a:cxnSpLocks/>
          </p:cNvCxnSpPr>
          <p:nvPr/>
        </p:nvCxnSpPr>
        <p:spPr>
          <a:xfrm>
            <a:off x="5980377" y="2956972"/>
            <a:ext cx="0" cy="118533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平行四邊形 36">
            <a:extLst>
              <a:ext uri="{FF2B5EF4-FFF2-40B4-BE49-F238E27FC236}">
                <a16:creationId xmlns:a16="http://schemas.microsoft.com/office/drawing/2014/main" id="{072A0001-BCF0-FBDA-A671-1300CFB6626B}"/>
              </a:ext>
            </a:extLst>
          </p:cNvPr>
          <p:cNvSpPr/>
          <p:nvPr/>
        </p:nvSpPr>
        <p:spPr>
          <a:xfrm>
            <a:off x="4656666" y="5011208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當月帳款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8870989-FDCF-92E1-D3B5-514043A11BD2}"/>
              </a:ext>
            </a:extLst>
          </p:cNvPr>
          <p:cNvCxnSpPr>
            <a:cxnSpLocks/>
          </p:cNvCxnSpPr>
          <p:nvPr/>
        </p:nvCxnSpPr>
        <p:spPr>
          <a:xfrm>
            <a:off x="5173132" y="4659839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2F72A791-E423-6F8E-444A-96F60154C3CF}"/>
              </a:ext>
            </a:extLst>
          </p:cNvPr>
          <p:cNvSpPr/>
          <p:nvPr/>
        </p:nvSpPr>
        <p:spPr>
          <a:xfrm>
            <a:off x="6811433" y="5066240"/>
            <a:ext cx="2057400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genUpload</a:t>
            </a:r>
            <a:endParaRPr lang="en-US" altLang="zh-TW" sz="12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  <a:p>
            <a:pPr algn="ctr"/>
            <a:r>
              <a:rPr lang="en-US" altLang="zh-TW" sz="1200" dirty="0" err="1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genAutoDeduct</a:t>
            </a:r>
            <a:endParaRPr lang="zh-TW" altLang="en-US" sz="12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2BD9D0C6-2E8B-9EC3-99DD-31F5F282337F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5602817" y="5307540"/>
            <a:ext cx="12086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D72A2524-8B42-EC9C-BE93-1597B6238DCA}"/>
              </a:ext>
            </a:extLst>
          </p:cNvPr>
          <p:cNvCxnSpPr>
            <a:cxnSpLocks/>
          </p:cNvCxnSpPr>
          <p:nvPr/>
        </p:nvCxnSpPr>
        <p:spPr>
          <a:xfrm flipH="1">
            <a:off x="3244849" y="6196539"/>
            <a:ext cx="393488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F06467FE-F13B-CC89-D69A-6E3F0A9A1655}"/>
              </a:ext>
            </a:extLst>
          </p:cNvPr>
          <p:cNvCxnSpPr>
            <a:cxnSpLocks/>
          </p:cNvCxnSpPr>
          <p:nvPr/>
        </p:nvCxnSpPr>
        <p:spPr>
          <a:xfrm flipV="1">
            <a:off x="7179733" y="5548840"/>
            <a:ext cx="0" cy="64769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平行四邊形 46">
            <a:extLst>
              <a:ext uri="{FF2B5EF4-FFF2-40B4-BE49-F238E27FC236}">
                <a16:creationId xmlns:a16="http://schemas.microsoft.com/office/drawing/2014/main" id="{5BD18510-B7ED-C0AA-88A4-D6DBB4897B64}"/>
              </a:ext>
            </a:extLst>
          </p:cNvPr>
          <p:cNvSpPr/>
          <p:nvPr/>
        </p:nvSpPr>
        <p:spPr>
          <a:xfrm>
            <a:off x="7323666" y="4120082"/>
            <a:ext cx="1032933" cy="592667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上傳資料</a:t>
            </a:r>
          </a:p>
        </p:txBody>
      </p:sp>
      <p:sp>
        <p:nvSpPr>
          <p:cNvPr id="48" name="平行四邊形 47">
            <a:extLst>
              <a:ext uri="{FF2B5EF4-FFF2-40B4-BE49-F238E27FC236}">
                <a16:creationId xmlns:a16="http://schemas.microsoft.com/office/drawing/2014/main" id="{ACEEF897-A282-AC75-587A-81203C983BEB}"/>
              </a:ext>
            </a:extLst>
          </p:cNvPr>
          <p:cNvSpPr/>
          <p:nvPr/>
        </p:nvSpPr>
        <p:spPr>
          <a:xfrm>
            <a:off x="9349316" y="4983690"/>
            <a:ext cx="1282702" cy="647699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當月代繳授權清冊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40D5C350-2011-2041-F8AE-EBF3A4E7A86C}"/>
              </a:ext>
            </a:extLst>
          </p:cNvPr>
          <p:cNvSpPr/>
          <p:nvPr/>
        </p:nvSpPr>
        <p:spPr>
          <a:xfrm>
            <a:off x="7198785" y="3173924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元大網銀</a:t>
            </a: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89EB1BE2-E172-23C4-9B52-8880F55B310F}"/>
              </a:ext>
            </a:extLst>
          </p:cNvPr>
          <p:cNvCxnSpPr>
            <a:cxnSpLocks/>
          </p:cNvCxnSpPr>
          <p:nvPr/>
        </p:nvCxnSpPr>
        <p:spPr>
          <a:xfrm>
            <a:off x="8896352" y="5307540"/>
            <a:ext cx="49318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65E887EE-4D0A-F42F-D641-D53FBDC364EB}"/>
              </a:ext>
            </a:extLst>
          </p:cNvPr>
          <p:cNvCxnSpPr>
            <a:cxnSpLocks/>
          </p:cNvCxnSpPr>
          <p:nvPr/>
        </p:nvCxnSpPr>
        <p:spPr>
          <a:xfrm flipV="1">
            <a:off x="9990666" y="3772752"/>
            <a:ext cx="0" cy="12217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1C4F1FBC-6C42-FD42-728D-79D49F0A762E}"/>
              </a:ext>
            </a:extLst>
          </p:cNvPr>
          <p:cNvSpPr/>
          <p:nvPr/>
        </p:nvSpPr>
        <p:spPr>
          <a:xfrm>
            <a:off x="9315453" y="3173924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元大櫃台</a:t>
            </a:r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920F5143-112A-51E9-E988-BCADF6AD9859}"/>
              </a:ext>
            </a:extLst>
          </p:cNvPr>
          <p:cNvCxnSpPr>
            <a:cxnSpLocks/>
          </p:cNvCxnSpPr>
          <p:nvPr/>
        </p:nvCxnSpPr>
        <p:spPr>
          <a:xfrm flipV="1">
            <a:off x="7840131" y="4712749"/>
            <a:ext cx="0" cy="3116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F8FA35F1-3B80-3038-09EC-5A9818EF4605}"/>
              </a:ext>
            </a:extLst>
          </p:cNvPr>
          <p:cNvCxnSpPr>
            <a:cxnSpLocks/>
          </p:cNvCxnSpPr>
          <p:nvPr/>
        </p:nvCxnSpPr>
        <p:spPr>
          <a:xfrm flipV="1">
            <a:off x="7840131" y="3808401"/>
            <a:ext cx="0" cy="3116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78F9A5E5-E475-B976-C9E1-BA54AAC11513}"/>
              </a:ext>
            </a:extLst>
          </p:cNvPr>
          <p:cNvSpPr/>
          <p:nvPr/>
        </p:nvSpPr>
        <p:spPr>
          <a:xfrm>
            <a:off x="516467" y="1452557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元大網銀下載</a:t>
            </a: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13D48B55-DAD7-3252-C102-5D96082C2C54}"/>
              </a:ext>
            </a:extLst>
          </p:cNvPr>
          <p:cNvCxnSpPr>
            <a:cxnSpLocks/>
          </p:cNvCxnSpPr>
          <p:nvPr/>
        </p:nvCxnSpPr>
        <p:spPr>
          <a:xfrm flipV="1">
            <a:off x="1819267" y="1748890"/>
            <a:ext cx="493183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E4611318-C4E2-CF60-4A70-6C32173B610A}"/>
              </a:ext>
            </a:extLst>
          </p:cNvPr>
          <p:cNvSpPr/>
          <p:nvPr/>
        </p:nvSpPr>
        <p:spPr>
          <a:xfrm>
            <a:off x="3738033" y="2400821"/>
            <a:ext cx="1539872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qualYearSeason</a:t>
            </a:r>
            <a:endParaRPr lang="zh-TW" altLang="en-US" sz="12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24F10C9-9C55-3E39-E437-03916FFD7978}"/>
              </a:ext>
            </a:extLst>
          </p:cNvPr>
          <p:cNvCxnSpPr>
            <a:cxnSpLocks/>
          </p:cNvCxnSpPr>
          <p:nvPr/>
        </p:nvCxnSpPr>
        <p:spPr>
          <a:xfrm flipV="1">
            <a:off x="3203574" y="2640533"/>
            <a:ext cx="493183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0DDB68B1-EFE8-FAB7-E11B-BE95A43277F4}"/>
              </a:ext>
            </a:extLst>
          </p:cNvPr>
          <p:cNvCxnSpPr>
            <a:cxnSpLocks/>
          </p:cNvCxnSpPr>
          <p:nvPr/>
        </p:nvCxnSpPr>
        <p:spPr>
          <a:xfrm>
            <a:off x="4507969" y="2934745"/>
            <a:ext cx="0" cy="118533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24FD3BF-E04E-775B-631A-45F4831A3CB2}"/>
              </a:ext>
            </a:extLst>
          </p:cNvPr>
          <p:cNvSpPr/>
          <p:nvPr/>
        </p:nvSpPr>
        <p:spPr>
          <a:xfrm>
            <a:off x="7575813" y="1949706"/>
            <a:ext cx="1539872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ancmWordDoc</a:t>
            </a:r>
            <a:endParaRPr lang="zh-TW" altLang="en-US" sz="12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8EBEF2F5-B0C1-4858-49F5-65A2FFC66D69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6956819" y="2191006"/>
            <a:ext cx="61899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EB3833E5-6029-639A-0C80-0AFA2598C168}"/>
              </a:ext>
            </a:extLst>
          </p:cNvPr>
          <p:cNvCxnSpPr>
            <a:cxnSpLocks/>
          </p:cNvCxnSpPr>
          <p:nvPr/>
        </p:nvCxnSpPr>
        <p:spPr>
          <a:xfrm>
            <a:off x="6956819" y="2197085"/>
            <a:ext cx="0" cy="251566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BD06D004-3F1C-4717-CAE3-D445BFAA3992}"/>
              </a:ext>
            </a:extLst>
          </p:cNvPr>
          <p:cNvCxnSpPr>
            <a:cxnSpLocks/>
          </p:cNvCxnSpPr>
          <p:nvPr/>
        </p:nvCxnSpPr>
        <p:spPr>
          <a:xfrm flipV="1">
            <a:off x="5689599" y="4696340"/>
            <a:ext cx="1267220" cy="44292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0008616-73CC-7BD2-C69C-7F4B00ACEE4E}"/>
              </a:ext>
            </a:extLst>
          </p:cNvPr>
          <p:cNvSpPr/>
          <p:nvPr/>
        </p:nvSpPr>
        <p:spPr>
          <a:xfrm>
            <a:off x="9464808" y="1894672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催繳公告</a:t>
            </a: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4B18FDCA-01A9-A93D-B9D3-8675768A04D0}"/>
              </a:ext>
            </a:extLst>
          </p:cNvPr>
          <p:cNvCxnSpPr>
            <a:cxnSpLocks/>
            <a:stCxn id="22" idx="3"/>
            <a:endCxn id="46" idx="1"/>
          </p:cNvCxnSpPr>
          <p:nvPr/>
        </p:nvCxnSpPr>
        <p:spPr>
          <a:xfrm>
            <a:off x="9115685" y="2191006"/>
            <a:ext cx="34912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70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8E14F9-FFD4-B71A-929F-3986A8D8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子程序列表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225AC98-11FF-A067-124E-17EEA80B78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778532"/>
              </p:ext>
            </p:extLst>
          </p:nvPr>
        </p:nvGraphicFramePr>
        <p:xfrm>
          <a:off x="838200" y="1825625"/>
          <a:ext cx="10515600" cy="211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6041647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418030677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104107045"/>
                    </a:ext>
                  </a:extLst>
                </a:gridCol>
                <a:gridCol w="2646680">
                  <a:extLst>
                    <a:ext uri="{9D8B030D-6E8A-4147-A177-3AD203B41FA5}">
                      <a16:colId xmlns:a16="http://schemas.microsoft.com/office/drawing/2014/main" val="2497619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4697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輸出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備註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55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 err="1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FindFirstResid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Range(one column)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iFirstRow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搜尋該欄戶別代號的起始位置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戶別格式檢查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89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 err="1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FindLastResid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Range(one column), </a:t>
                      </a:r>
                      <a:r>
                        <a:rPr lang="en-US" altLang="zh-TW" sz="1200" dirty="0" err="1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iFirstRow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清單中的住戶個數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搜尋清單中最後一個住戶位置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戶別格式檢查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12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 err="1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exportSheetAsXlsx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Sheet name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與</a:t>
                      </a:r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sheet</a:t>
                      </a:r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同名並加上日期的</a:t>
                      </a:r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Excel</a:t>
                      </a:r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檔案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將工作表另存成新的</a:t>
                      </a:r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Excel</a:t>
                      </a:r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29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200" dirty="0" err="1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renewDebt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(</a:t>
                      </a:r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未繳名單</a:t>
                      </a:r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)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(</a:t>
                      </a:r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上期累計欠繳期數</a:t>
                      </a:r>
                      <a:r>
                        <a:rPr lang="en-US" altLang="zh-TW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)</a:t>
                      </a:r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Cascadia Code" panose="020B0609020000020004" pitchFamily="49" charset="0"/>
                          <a:ea typeface="微軟正黑體" panose="020B0604030504040204" pitchFamily="34" charset="-120"/>
                          <a:cs typeface="Cascadia Code" panose="020B0609020000020004" pitchFamily="49" charset="0"/>
                        </a:rPr>
                        <a:t>依照上期公告未繳名單，更新當月帳款中，上期累計欠繳期數欄位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>
                        <a:latin typeface="Cascadia Code" panose="020B0609020000020004" pitchFamily="49" charset="0"/>
                        <a:ea typeface="微軟正黑體" panose="020B0604030504040204" pitchFamily="34" charset="-12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01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70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47656A-035E-B204-6346-272E8545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說明年繳戶的行政規費處理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FE34E1-B75B-C7B1-58D3-0F380C90B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十月份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年費*優惠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十月份行政規費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該戶仍於年繳戶清單，表示去年期房屋車位管理費已繳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如有欠繳應屬於去年十一月至今年九月未繳行政規費。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行政規費如果九月仍未繳清，喪失其年繳優惠資格。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年繳優惠僅限於房屋車位管理費，不包含行政規費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十一月份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無欠繳紀錄，無行政規費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不開單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無欠繳紀錄，有行政規費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僅收行政規費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有欠繳紀錄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年繳資格失效，改列欠繳金額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=(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未銷帳金額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年繳房車費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月繳房車費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，餘依月繳處理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十二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~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九月份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若仍保有年繳資格者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無欠繳紀錄，無行政規費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不開單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有欠繳紀錄或有行政規費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開欠繳紀錄或行政規費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季繳戶之規則類同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661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60CD0-8C79-F1D7-FCEB-5C1A2310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年繳清單處理流程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3E180776-E03D-7E97-3324-0E1501DFCA7C}"/>
              </a:ext>
            </a:extLst>
          </p:cNvPr>
          <p:cNvSpPr/>
          <p:nvPr/>
        </p:nvSpPr>
        <p:spPr>
          <a:xfrm>
            <a:off x="2527300" y="1690689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968B10-A9AF-6125-6F5B-4F9287F856AA}"/>
              </a:ext>
            </a:extLst>
          </p:cNvPr>
          <p:cNvSpPr/>
          <p:nvPr/>
        </p:nvSpPr>
        <p:spPr>
          <a:xfrm>
            <a:off x="2527300" y="2645809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年繳名單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CAB9AFDE-FC7B-D6C3-12BD-72A97176C5FC}"/>
              </a:ext>
            </a:extLst>
          </p:cNvPr>
          <p:cNvCxnSpPr>
            <a:cxnSpLocks/>
          </p:cNvCxnSpPr>
          <p:nvPr/>
        </p:nvCxnSpPr>
        <p:spPr>
          <a:xfrm>
            <a:off x="3168646" y="2288090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平行四邊形 5">
            <a:extLst>
              <a:ext uri="{FF2B5EF4-FFF2-40B4-BE49-F238E27FC236}">
                <a16:creationId xmlns:a16="http://schemas.microsoft.com/office/drawing/2014/main" id="{EF9F808C-0D51-EB24-D894-733F8BB8AEDC}"/>
              </a:ext>
            </a:extLst>
          </p:cNvPr>
          <p:cNvSpPr/>
          <p:nvPr/>
        </p:nvSpPr>
        <p:spPr>
          <a:xfrm>
            <a:off x="736600" y="2639459"/>
            <a:ext cx="1282693" cy="482601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年繳申請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九月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DDF90E9A-F535-9230-0201-43FEBC7D6D87}"/>
              </a:ext>
            </a:extLst>
          </p:cNvPr>
          <p:cNvSpPr/>
          <p:nvPr/>
        </p:nvSpPr>
        <p:spPr>
          <a:xfrm>
            <a:off x="850893" y="3471306"/>
            <a:ext cx="1168400" cy="482601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未銷帳清冊</a:t>
            </a:r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1BBBC920-2DB3-C6A6-F53A-37994B1E1FB1}"/>
              </a:ext>
            </a:extLst>
          </p:cNvPr>
          <p:cNvSpPr/>
          <p:nvPr/>
        </p:nvSpPr>
        <p:spPr>
          <a:xfrm>
            <a:off x="2405107" y="3492718"/>
            <a:ext cx="1527077" cy="626747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年繳月份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25A77AA-1143-2D6D-E258-86427EF9A257}"/>
              </a:ext>
            </a:extLst>
          </p:cNvPr>
          <p:cNvCxnSpPr>
            <a:cxnSpLocks/>
          </p:cNvCxnSpPr>
          <p:nvPr/>
        </p:nvCxnSpPr>
        <p:spPr>
          <a:xfrm>
            <a:off x="3168646" y="3122060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D248DC0-4759-535A-23B7-D7D7D0D4703C}"/>
              </a:ext>
            </a:extLst>
          </p:cNvPr>
          <p:cNvCxnSpPr>
            <a:cxnSpLocks/>
          </p:cNvCxnSpPr>
          <p:nvPr/>
        </p:nvCxnSpPr>
        <p:spPr>
          <a:xfrm>
            <a:off x="3168646" y="4146339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96AF38-BD07-F40E-0060-26A13770AA75}"/>
              </a:ext>
            </a:extLst>
          </p:cNvPr>
          <p:cNvSpPr txBox="1"/>
          <p:nvPr/>
        </p:nvSpPr>
        <p:spPr>
          <a:xfrm>
            <a:off x="3168646" y="4119465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8C57F2F-1B81-A3A2-9729-20A440D4A4A6}"/>
              </a:ext>
            </a:extLst>
          </p:cNvPr>
          <p:cNvCxnSpPr>
            <a:cxnSpLocks/>
          </p:cNvCxnSpPr>
          <p:nvPr/>
        </p:nvCxnSpPr>
        <p:spPr>
          <a:xfrm>
            <a:off x="3970383" y="3792456"/>
            <a:ext cx="4032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1729CA9-11A4-17C1-CF81-9D980E6A9DF3}"/>
              </a:ext>
            </a:extLst>
          </p:cNvPr>
          <p:cNvSpPr txBox="1"/>
          <p:nvPr/>
        </p:nvSpPr>
        <p:spPr>
          <a:xfrm>
            <a:off x="3932184" y="3471306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F0AF465-1E54-32B4-1C1F-A9B0DDD97FE1}"/>
              </a:ext>
            </a:extLst>
          </p:cNvPr>
          <p:cNvCxnSpPr>
            <a:cxnSpLocks/>
          </p:cNvCxnSpPr>
          <p:nvPr/>
        </p:nvCxnSpPr>
        <p:spPr>
          <a:xfrm>
            <a:off x="2235199" y="2918857"/>
            <a:ext cx="0" cy="7937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968724C-6F16-DFA6-BC17-9A30466AAC1D}"/>
              </a:ext>
            </a:extLst>
          </p:cNvPr>
          <p:cNvCxnSpPr>
            <a:cxnSpLocks/>
            <a:stCxn id="4" idx="1"/>
            <a:endCxn id="6" idx="2"/>
          </p:cNvCxnSpPr>
          <p:nvPr/>
        </p:nvCxnSpPr>
        <p:spPr>
          <a:xfrm flipH="1" flipV="1">
            <a:off x="1958968" y="2880760"/>
            <a:ext cx="568332" cy="6349"/>
          </a:xfrm>
          <a:prstGeom prst="line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2D8B3C5-434C-B626-C723-58CDA0A8AB38}"/>
              </a:ext>
            </a:extLst>
          </p:cNvPr>
          <p:cNvCxnSpPr>
            <a:cxnSpLocks/>
          </p:cNvCxnSpPr>
          <p:nvPr/>
        </p:nvCxnSpPr>
        <p:spPr>
          <a:xfrm flipH="1">
            <a:off x="1949449" y="3712605"/>
            <a:ext cx="285750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菱形 26">
            <a:extLst>
              <a:ext uri="{FF2B5EF4-FFF2-40B4-BE49-F238E27FC236}">
                <a16:creationId xmlns:a16="http://schemas.microsoft.com/office/drawing/2014/main" id="{4CC6C8AC-CCD6-6999-0DC1-A8CBD103FBE4}"/>
              </a:ext>
            </a:extLst>
          </p:cNvPr>
          <p:cNvSpPr/>
          <p:nvPr/>
        </p:nvSpPr>
        <p:spPr>
          <a:xfrm>
            <a:off x="2578911" y="4524582"/>
            <a:ext cx="1179468" cy="4814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上期欠款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8193C632-037F-5217-000B-DCC91768847C}"/>
              </a:ext>
            </a:extLst>
          </p:cNvPr>
          <p:cNvCxnSpPr>
            <a:cxnSpLocks/>
          </p:cNvCxnSpPr>
          <p:nvPr/>
        </p:nvCxnSpPr>
        <p:spPr>
          <a:xfrm>
            <a:off x="3168646" y="5032881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C6D114A-C634-56E2-16A8-B8A817049C55}"/>
              </a:ext>
            </a:extLst>
          </p:cNvPr>
          <p:cNvSpPr txBox="1"/>
          <p:nvPr/>
        </p:nvSpPr>
        <p:spPr>
          <a:xfrm>
            <a:off x="3168646" y="5006007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B85755-6C88-169F-26DA-5CFAE1539813}"/>
              </a:ext>
            </a:extLst>
          </p:cNvPr>
          <p:cNvSpPr/>
          <p:nvPr/>
        </p:nvSpPr>
        <p:spPr>
          <a:xfrm>
            <a:off x="2516056" y="5411124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移除年繳資格</a:t>
            </a: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84A8C22F-8F96-DB46-0522-D58DAE39CC2C}"/>
              </a:ext>
            </a:extLst>
          </p:cNvPr>
          <p:cNvCxnSpPr>
            <a:cxnSpLocks/>
          </p:cNvCxnSpPr>
          <p:nvPr/>
        </p:nvCxnSpPr>
        <p:spPr>
          <a:xfrm>
            <a:off x="3840394" y="4753743"/>
            <a:ext cx="4032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725B89-5A91-39E0-A526-31C952412DA2}"/>
              </a:ext>
            </a:extLst>
          </p:cNvPr>
          <p:cNvSpPr txBox="1"/>
          <p:nvPr/>
        </p:nvSpPr>
        <p:spPr>
          <a:xfrm>
            <a:off x="3802195" y="4432593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CBB2F94-0D50-F787-E31A-E1DE154DDE3B}"/>
              </a:ext>
            </a:extLst>
          </p:cNvPr>
          <p:cNvSpPr/>
          <p:nvPr/>
        </p:nvSpPr>
        <p:spPr>
          <a:xfrm>
            <a:off x="4296783" y="4512443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進入年繳管理費處理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34910AD-CD1E-0CBD-9D0A-924D72FA6C54}"/>
              </a:ext>
            </a:extLst>
          </p:cNvPr>
          <p:cNvSpPr/>
          <p:nvPr/>
        </p:nvSpPr>
        <p:spPr>
          <a:xfrm>
            <a:off x="4411802" y="3564791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禁止更動年繳名單</a:t>
            </a:r>
          </a:p>
        </p:txBody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562CDB9A-640D-FEF6-A4E0-9C0505A06B72}"/>
              </a:ext>
            </a:extLst>
          </p:cNvPr>
          <p:cNvSpPr/>
          <p:nvPr/>
        </p:nvSpPr>
        <p:spPr>
          <a:xfrm>
            <a:off x="6435241" y="2567385"/>
            <a:ext cx="1527077" cy="626747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月份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=11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BEAEF81C-6E0E-6897-D0FE-4DE4B67D0288}"/>
              </a:ext>
            </a:extLst>
          </p:cNvPr>
          <p:cNvCxnSpPr>
            <a:cxnSpLocks/>
          </p:cNvCxnSpPr>
          <p:nvPr/>
        </p:nvCxnSpPr>
        <p:spPr>
          <a:xfrm flipH="1">
            <a:off x="5602912" y="4753743"/>
            <a:ext cx="40842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4AE6091-9A32-CA1F-1C22-C153569C2FB9}"/>
              </a:ext>
            </a:extLst>
          </p:cNvPr>
          <p:cNvCxnSpPr>
            <a:cxnSpLocks/>
          </p:cNvCxnSpPr>
          <p:nvPr/>
        </p:nvCxnSpPr>
        <p:spPr>
          <a:xfrm>
            <a:off x="6011332" y="2887109"/>
            <a:ext cx="0" cy="18781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9682AD9F-F8D3-1DE8-24F4-3371B18244A9}"/>
              </a:ext>
            </a:extLst>
          </p:cNvPr>
          <p:cNvCxnSpPr>
            <a:cxnSpLocks/>
          </p:cNvCxnSpPr>
          <p:nvPr/>
        </p:nvCxnSpPr>
        <p:spPr>
          <a:xfrm>
            <a:off x="6011332" y="2880758"/>
            <a:ext cx="4032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C168A4E0-2829-2660-35CA-DB9D4E9019A8}"/>
              </a:ext>
            </a:extLst>
          </p:cNvPr>
          <p:cNvCxnSpPr>
            <a:cxnSpLocks/>
          </p:cNvCxnSpPr>
          <p:nvPr/>
        </p:nvCxnSpPr>
        <p:spPr>
          <a:xfrm>
            <a:off x="7195604" y="3221006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580B425-8620-34E6-74BD-1ABB3063286E}"/>
              </a:ext>
            </a:extLst>
          </p:cNvPr>
          <p:cNvSpPr txBox="1"/>
          <p:nvPr/>
        </p:nvSpPr>
        <p:spPr>
          <a:xfrm>
            <a:off x="7195604" y="3194132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菱形 43">
            <a:extLst>
              <a:ext uri="{FF2B5EF4-FFF2-40B4-BE49-F238E27FC236}">
                <a16:creationId xmlns:a16="http://schemas.microsoft.com/office/drawing/2014/main" id="{778C749B-1786-6E66-CFE4-3D4A6F1196C0}"/>
              </a:ext>
            </a:extLst>
          </p:cNvPr>
          <p:cNvSpPr/>
          <p:nvPr/>
        </p:nvSpPr>
        <p:spPr>
          <a:xfrm>
            <a:off x="6605870" y="3580166"/>
            <a:ext cx="1179468" cy="4814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上期欠款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15644BA-019A-B269-95CB-D785D9B217FA}"/>
              </a:ext>
            </a:extLst>
          </p:cNvPr>
          <p:cNvCxnSpPr>
            <a:cxnSpLocks/>
          </p:cNvCxnSpPr>
          <p:nvPr/>
        </p:nvCxnSpPr>
        <p:spPr>
          <a:xfrm>
            <a:off x="7195604" y="4120913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8ACED44-1AA0-6CDF-0F7D-227033C400C2}"/>
              </a:ext>
            </a:extLst>
          </p:cNvPr>
          <p:cNvSpPr txBox="1"/>
          <p:nvPr/>
        </p:nvSpPr>
        <p:spPr>
          <a:xfrm>
            <a:off x="7195604" y="4094039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CF866E0-DF57-EE90-E16F-2D96BC5B0399}"/>
              </a:ext>
            </a:extLst>
          </p:cNvPr>
          <p:cNvSpPr/>
          <p:nvPr/>
        </p:nvSpPr>
        <p:spPr>
          <a:xfrm>
            <a:off x="6554257" y="4512443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失去年繳資格</a:t>
            </a:r>
            <a:endParaRPr lang="en-US" altLang="zh-TW" sz="14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加計一期欠款</a:t>
            </a: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CAA1C76F-EB41-31D7-ECA8-5057AA121200}"/>
              </a:ext>
            </a:extLst>
          </p:cNvPr>
          <p:cNvSpPr/>
          <p:nvPr/>
        </p:nvSpPr>
        <p:spPr>
          <a:xfrm>
            <a:off x="6551080" y="5421628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進行季繳處理</a:t>
            </a:r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C019691F-4512-09C5-817E-2407485DA6C1}"/>
              </a:ext>
            </a:extLst>
          </p:cNvPr>
          <p:cNvCxnSpPr>
            <a:cxnSpLocks/>
          </p:cNvCxnSpPr>
          <p:nvPr/>
        </p:nvCxnSpPr>
        <p:spPr>
          <a:xfrm>
            <a:off x="7192427" y="5028533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171FFD7-3AA5-6D1B-B170-CBEA3C7C9838}"/>
              </a:ext>
            </a:extLst>
          </p:cNvPr>
          <p:cNvCxnSpPr>
            <a:cxnSpLocks/>
          </p:cNvCxnSpPr>
          <p:nvPr/>
        </p:nvCxnSpPr>
        <p:spPr>
          <a:xfrm>
            <a:off x="4938129" y="4119465"/>
            <a:ext cx="0" cy="3528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2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A7A3A1-1FF6-FA80-1185-978B20C7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季繳清單處理流程</a:t>
            </a:r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E643D9E-4DEC-4C74-FB7E-DF7FE43A36E5}"/>
              </a:ext>
            </a:extLst>
          </p:cNvPr>
          <p:cNvSpPr/>
          <p:nvPr/>
        </p:nvSpPr>
        <p:spPr>
          <a:xfrm>
            <a:off x="2516056" y="1666190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進行季繳處理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4E9144-44F9-310A-2376-FE272E07F4D9}"/>
              </a:ext>
            </a:extLst>
          </p:cNvPr>
          <p:cNvSpPr/>
          <p:nvPr/>
        </p:nvSpPr>
        <p:spPr>
          <a:xfrm>
            <a:off x="2527300" y="2645809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季繳名單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51FEECF-01CD-347B-4639-43D9E9596A9C}"/>
              </a:ext>
            </a:extLst>
          </p:cNvPr>
          <p:cNvCxnSpPr>
            <a:cxnSpLocks/>
          </p:cNvCxnSpPr>
          <p:nvPr/>
        </p:nvCxnSpPr>
        <p:spPr>
          <a:xfrm>
            <a:off x="3168646" y="2288090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平行四邊形 5">
            <a:extLst>
              <a:ext uri="{FF2B5EF4-FFF2-40B4-BE49-F238E27FC236}">
                <a16:creationId xmlns:a16="http://schemas.microsoft.com/office/drawing/2014/main" id="{528FE653-DD0F-7EC0-7C53-8AEAE64B2551}"/>
              </a:ext>
            </a:extLst>
          </p:cNvPr>
          <p:cNvSpPr/>
          <p:nvPr/>
        </p:nvSpPr>
        <p:spPr>
          <a:xfrm>
            <a:off x="538216" y="2639459"/>
            <a:ext cx="1481078" cy="482601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季繳申請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(12,3,6,9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7EDC4BF1-B222-2609-95BC-7D98F4DA3204}"/>
              </a:ext>
            </a:extLst>
          </p:cNvPr>
          <p:cNvSpPr/>
          <p:nvPr/>
        </p:nvSpPr>
        <p:spPr>
          <a:xfrm>
            <a:off x="850893" y="3471306"/>
            <a:ext cx="1168400" cy="482601"/>
          </a:xfrm>
          <a:prstGeom prst="parallelogram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未銷帳清冊</a:t>
            </a:r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1E0EF732-2920-F10F-5A3F-53EB560938EC}"/>
              </a:ext>
            </a:extLst>
          </p:cNvPr>
          <p:cNvSpPr/>
          <p:nvPr/>
        </p:nvSpPr>
        <p:spPr>
          <a:xfrm>
            <a:off x="2368363" y="3492719"/>
            <a:ext cx="1596355" cy="626747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季繳月份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1,4,7,10?</a:t>
            </a:r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D829F46-E9B5-BAD3-6F17-7A19866F6D90}"/>
              </a:ext>
            </a:extLst>
          </p:cNvPr>
          <p:cNvCxnSpPr>
            <a:cxnSpLocks/>
          </p:cNvCxnSpPr>
          <p:nvPr/>
        </p:nvCxnSpPr>
        <p:spPr>
          <a:xfrm>
            <a:off x="3168646" y="3122060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ABED956-F9AC-AD2F-EE4D-37F5F28EE68F}"/>
              </a:ext>
            </a:extLst>
          </p:cNvPr>
          <p:cNvCxnSpPr>
            <a:cxnSpLocks/>
          </p:cNvCxnSpPr>
          <p:nvPr/>
        </p:nvCxnSpPr>
        <p:spPr>
          <a:xfrm>
            <a:off x="3168646" y="4146339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B56E8F8-19F3-6B8D-1C6F-BE7DA990EEFB}"/>
              </a:ext>
            </a:extLst>
          </p:cNvPr>
          <p:cNvSpPr txBox="1"/>
          <p:nvPr/>
        </p:nvSpPr>
        <p:spPr>
          <a:xfrm>
            <a:off x="3168646" y="4119465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685405F-6AFB-3471-5A21-AC716EC7E440}"/>
              </a:ext>
            </a:extLst>
          </p:cNvPr>
          <p:cNvCxnSpPr>
            <a:cxnSpLocks/>
          </p:cNvCxnSpPr>
          <p:nvPr/>
        </p:nvCxnSpPr>
        <p:spPr>
          <a:xfrm>
            <a:off x="3970383" y="3792456"/>
            <a:ext cx="4032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0A0F97-6912-2F34-3B7B-5C4629BC561D}"/>
              </a:ext>
            </a:extLst>
          </p:cNvPr>
          <p:cNvSpPr txBox="1"/>
          <p:nvPr/>
        </p:nvSpPr>
        <p:spPr>
          <a:xfrm>
            <a:off x="3932184" y="3471306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37AF5F2-486A-0084-8FF1-FA9A4D16E0E7}"/>
              </a:ext>
            </a:extLst>
          </p:cNvPr>
          <p:cNvCxnSpPr>
            <a:cxnSpLocks/>
          </p:cNvCxnSpPr>
          <p:nvPr/>
        </p:nvCxnSpPr>
        <p:spPr>
          <a:xfrm>
            <a:off x="2235199" y="2918857"/>
            <a:ext cx="0" cy="7937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7D969784-39B1-722A-B0AA-4EEB1A2744D3}"/>
              </a:ext>
            </a:extLst>
          </p:cNvPr>
          <p:cNvCxnSpPr>
            <a:cxnSpLocks/>
            <a:stCxn id="4" idx="1"/>
            <a:endCxn id="6" idx="2"/>
          </p:cNvCxnSpPr>
          <p:nvPr/>
        </p:nvCxnSpPr>
        <p:spPr>
          <a:xfrm flipH="1" flipV="1">
            <a:off x="1958969" y="2880760"/>
            <a:ext cx="568331" cy="6349"/>
          </a:xfrm>
          <a:prstGeom prst="line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11DB357A-604D-E24B-DDB9-E936BD8BE3D2}"/>
              </a:ext>
            </a:extLst>
          </p:cNvPr>
          <p:cNvCxnSpPr>
            <a:cxnSpLocks/>
          </p:cNvCxnSpPr>
          <p:nvPr/>
        </p:nvCxnSpPr>
        <p:spPr>
          <a:xfrm flipH="1">
            <a:off x="1949449" y="3712605"/>
            <a:ext cx="285750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菱形 16">
            <a:extLst>
              <a:ext uri="{FF2B5EF4-FFF2-40B4-BE49-F238E27FC236}">
                <a16:creationId xmlns:a16="http://schemas.microsoft.com/office/drawing/2014/main" id="{D4585151-2C85-B250-9115-B3002DE580D4}"/>
              </a:ext>
            </a:extLst>
          </p:cNvPr>
          <p:cNvSpPr/>
          <p:nvPr/>
        </p:nvSpPr>
        <p:spPr>
          <a:xfrm>
            <a:off x="2578911" y="4524582"/>
            <a:ext cx="1179468" cy="4814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上期欠款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741407E-A1ED-1EBF-E378-7B99833150DF}"/>
              </a:ext>
            </a:extLst>
          </p:cNvPr>
          <p:cNvCxnSpPr>
            <a:cxnSpLocks/>
          </p:cNvCxnSpPr>
          <p:nvPr/>
        </p:nvCxnSpPr>
        <p:spPr>
          <a:xfrm>
            <a:off x="3168646" y="5032881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6349F41-B5FA-ABD4-99EC-A395167135F8}"/>
              </a:ext>
            </a:extLst>
          </p:cNvPr>
          <p:cNvSpPr txBox="1"/>
          <p:nvPr/>
        </p:nvSpPr>
        <p:spPr>
          <a:xfrm>
            <a:off x="3168646" y="5006007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7623B3-27B3-5DC4-91C9-996ADB7AFB7F}"/>
              </a:ext>
            </a:extLst>
          </p:cNvPr>
          <p:cNvSpPr/>
          <p:nvPr/>
        </p:nvSpPr>
        <p:spPr>
          <a:xfrm>
            <a:off x="2516056" y="5411124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移除季繳資格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BAEA4B4-6345-6C3F-CC01-4789B1044A3A}"/>
              </a:ext>
            </a:extLst>
          </p:cNvPr>
          <p:cNvCxnSpPr>
            <a:cxnSpLocks/>
          </p:cNvCxnSpPr>
          <p:nvPr/>
        </p:nvCxnSpPr>
        <p:spPr>
          <a:xfrm>
            <a:off x="3840394" y="4753743"/>
            <a:ext cx="4032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92F20D1-CC49-F6A9-250C-E053388AEB23}"/>
              </a:ext>
            </a:extLst>
          </p:cNvPr>
          <p:cNvSpPr txBox="1"/>
          <p:nvPr/>
        </p:nvSpPr>
        <p:spPr>
          <a:xfrm>
            <a:off x="3802195" y="4432593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1F960B-42E4-2BDD-C503-B138CE9DA294}"/>
              </a:ext>
            </a:extLst>
          </p:cNvPr>
          <p:cNvSpPr/>
          <p:nvPr/>
        </p:nvSpPr>
        <p:spPr>
          <a:xfrm>
            <a:off x="4411802" y="3564791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禁止更動季繳名單</a:t>
            </a:r>
          </a:p>
        </p:txBody>
      </p:sp>
      <p:sp>
        <p:nvSpPr>
          <p:cNvPr id="25" name="菱形 24">
            <a:extLst>
              <a:ext uri="{FF2B5EF4-FFF2-40B4-BE49-F238E27FC236}">
                <a16:creationId xmlns:a16="http://schemas.microsoft.com/office/drawing/2014/main" id="{00427471-0BD4-247D-D02B-707251C26ECA}"/>
              </a:ext>
            </a:extLst>
          </p:cNvPr>
          <p:cNvSpPr/>
          <p:nvPr/>
        </p:nvSpPr>
        <p:spPr>
          <a:xfrm>
            <a:off x="6435241" y="2567385"/>
            <a:ext cx="1527077" cy="626747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月份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2,5,8,11?</a:t>
            </a:r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E9B31262-605A-2818-4D4C-00DE9BA507F8}"/>
              </a:ext>
            </a:extLst>
          </p:cNvPr>
          <p:cNvCxnSpPr>
            <a:cxnSpLocks/>
          </p:cNvCxnSpPr>
          <p:nvPr/>
        </p:nvCxnSpPr>
        <p:spPr>
          <a:xfrm flipH="1">
            <a:off x="5602912" y="4753743"/>
            <a:ext cx="40842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91F920C0-06C9-704E-801E-2983BF896A17}"/>
              </a:ext>
            </a:extLst>
          </p:cNvPr>
          <p:cNvCxnSpPr>
            <a:cxnSpLocks/>
          </p:cNvCxnSpPr>
          <p:nvPr/>
        </p:nvCxnSpPr>
        <p:spPr>
          <a:xfrm>
            <a:off x="6001126" y="1916114"/>
            <a:ext cx="10206" cy="28491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7F883137-CDE9-B4B8-1724-74BF7ECA3B00}"/>
              </a:ext>
            </a:extLst>
          </p:cNvPr>
          <p:cNvCxnSpPr>
            <a:cxnSpLocks/>
          </p:cNvCxnSpPr>
          <p:nvPr/>
        </p:nvCxnSpPr>
        <p:spPr>
          <a:xfrm>
            <a:off x="6019295" y="1916114"/>
            <a:ext cx="44548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873B532F-437D-988D-EA5E-2B1AB8B14663}"/>
              </a:ext>
            </a:extLst>
          </p:cNvPr>
          <p:cNvCxnSpPr>
            <a:cxnSpLocks/>
          </p:cNvCxnSpPr>
          <p:nvPr/>
        </p:nvCxnSpPr>
        <p:spPr>
          <a:xfrm>
            <a:off x="7195604" y="3221006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EFDD694-F162-9CBF-0BC3-DF64AB473415}"/>
              </a:ext>
            </a:extLst>
          </p:cNvPr>
          <p:cNvSpPr txBox="1"/>
          <p:nvPr/>
        </p:nvSpPr>
        <p:spPr>
          <a:xfrm>
            <a:off x="7195604" y="3194132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菱形 30">
            <a:extLst>
              <a:ext uri="{FF2B5EF4-FFF2-40B4-BE49-F238E27FC236}">
                <a16:creationId xmlns:a16="http://schemas.microsoft.com/office/drawing/2014/main" id="{43B8E965-2435-9858-70C1-656BE93D428D}"/>
              </a:ext>
            </a:extLst>
          </p:cNvPr>
          <p:cNvSpPr/>
          <p:nvPr/>
        </p:nvSpPr>
        <p:spPr>
          <a:xfrm>
            <a:off x="6605870" y="3580166"/>
            <a:ext cx="1179468" cy="4814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上期欠款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5F23C698-DD89-648C-E495-ACA89042681C}"/>
              </a:ext>
            </a:extLst>
          </p:cNvPr>
          <p:cNvCxnSpPr>
            <a:cxnSpLocks/>
          </p:cNvCxnSpPr>
          <p:nvPr/>
        </p:nvCxnSpPr>
        <p:spPr>
          <a:xfrm>
            <a:off x="7195604" y="4120913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BF49300-BEFD-79A7-DAB9-A0A237352626}"/>
              </a:ext>
            </a:extLst>
          </p:cNvPr>
          <p:cNvSpPr txBox="1"/>
          <p:nvPr/>
        </p:nvSpPr>
        <p:spPr>
          <a:xfrm>
            <a:off x="7195604" y="4094039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5EF5233-343B-4E63-F44F-75B9B0A6DA76}"/>
              </a:ext>
            </a:extLst>
          </p:cNvPr>
          <p:cNvSpPr/>
          <p:nvPr/>
        </p:nvSpPr>
        <p:spPr>
          <a:xfrm>
            <a:off x="6554257" y="4512443"/>
            <a:ext cx="1282693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失去季繳資格</a:t>
            </a:r>
            <a:endParaRPr lang="en-US" altLang="zh-TW" sz="1400" dirty="0">
              <a:solidFill>
                <a:schemeClr val="tx1"/>
              </a:solidFill>
              <a:latin typeface="Cascadia Code" panose="020B0609020000020004" pitchFamily="49" charset="0"/>
              <a:ea typeface="微軟正黑體" panose="020B0604030504040204" pitchFamily="34" charset="-120"/>
              <a:cs typeface="Cascadia Code" panose="020B0609020000020004" pitchFamily="49" charset="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加計一期欠款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1A3F18E3-A4D7-4F10-9372-F006CF1690C6}"/>
              </a:ext>
            </a:extLst>
          </p:cNvPr>
          <p:cNvSpPr/>
          <p:nvPr/>
        </p:nvSpPr>
        <p:spPr>
          <a:xfrm>
            <a:off x="6551080" y="5421628"/>
            <a:ext cx="1282693" cy="592667"/>
          </a:xfrm>
          <a:prstGeom prst="roundRect">
            <a:avLst>
              <a:gd name="adj" fmla="val 48096"/>
            </a:avLst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Done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5365FCDD-E5C5-CEC4-FB0F-196E1C2D7FA5}"/>
              </a:ext>
            </a:extLst>
          </p:cNvPr>
          <p:cNvCxnSpPr>
            <a:cxnSpLocks/>
          </p:cNvCxnSpPr>
          <p:nvPr/>
        </p:nvCxnSpPr>
        <p:spPr>
          <a:xfrm>
            <a:off x="7192427" y="5028533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菱形 37">
            <a:extLst>
              <a:ext uri="{FF2B5EF4-FFF2-40B4-BE49-F238E27FC236}">
                <a16:creationId xmlns:a16="http://schemas.microsoft.com/office/drawing/2014/main" id="{70CBAE33-CF18-5058-990F-113473D77098}"/>
              </a:ext>
            </a:extLst>
          </p:cNvPr>
          <p:cNvSpPr/>
          <p:nvPr/>
        </p:nvSpPr>
        <p:spPr>
          <a:xfrm>
            <a:off x="4304867" y="4516766"/>
            <a:ext cx="1179468" cy="4814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年繳戶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6D31889B-6753-7DA5-A3DB-7822A5CD7661}"/>
              </a:ext>
            </a:extLst>
          </p:cNvPr>
          <p:cNvCxnSpPr>
            <a:cxnSpLocks/>
          </p:cNvCxnSpPr>
          <p:nvPr/>
        </p:nvCxnSpPr>
        <p:spPr>
          <a:xfrm>
            <a:off x="4906428" y="5032881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ECC7BEC-9847-965B-5659-64715E53D8DE}"/>
              </a:ext>
            </a:extLst>
          </p:cNvPr>
          <p:cNvSpPr txBox="1"/>
          <p:nvPr/>
        </p:nvSpPr>
        <p:spPr>
          <a:xfrm>
            <a:off x="4906428" y="5006007"/>
            <a:ext cx="495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C7C9BC-7CF6-363D-37F7-16F4A0F7FB02}"/>
              </a:ext>
            </a:extLst>
          </p:cNvPr>
          <p:cNvSpPr/>
          <p:nvPr/>
        </p:nvSpPr>
        <p:spPr>
          <a:xfrm>
            <a:off x="4160599" y="5411124"/>
            <a:ext cx="1468004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自季繳名單移除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FDD38B07-21DB-548F-FC25-EDD279633527}"/>
              </a:ext>
            </a:extLst>
          </p:cNvPr>
          <p:cNvSpPr txBox="1"/>
          <p:nvPr/>
        </p:nvSpPr>
        <p:spPr>
          <a:xfrm>
            <a:off x="5547641" y="4451850"/>
            <a:ext cx="479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DF80519-1265-ECD6-4A63-CA6A1177308D}"/>
              </a:ext>
            </a:extLst>
          </p:cNvPr>
          <p:cNvSpPr/>
          <p:nvPr/>
        </p:nvSpPr>
        <p:spPr>
          <a:xfrm>
            <a:off x="6464777" y="1674814"/>
            <a:ext cx="1468004" cy="48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scadia Code" panose="020B0609020000020004" pitchFamily="49" charset="0"/>
                <a:ea typeface="微軟正黑體" panose="020B0604030504040204" pitchFamily="34" charset="-120"/>
                <a:cs typeface="Cascadia Code" panose="020B0609020000020004" pitchFamily="49" charset="0"/>
              </a:rPr>
              <a:t>進入季繳管理費處理</a:t>
            </a: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CF7E90FC-8EB1-454C-948E-52D69C2E1BB5}"/>
              </a:ext>
            </a:extLst>
          </p:cNvPr>
          <p:cNvCxnSpPr>
            <a:cxnSpLocks/>
          </p:cNvCxnSpPr>
          <p:nvPr/>
        </p:nvCxnSpPr>
        <p:spPr>
          <a:xfrm>
            <a:off x="7198779" y="2184511"/>
            <a:ext cx="3175" cy="3513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B606B16E-25A4-5FF0-8CE1-848B6E06DAF4}"/>
              </a:ext>
            </a:extLst>
          </p:cNvPr>
          <p:cNvCxnSpPr>
            <a:cxnSpLocks/>
          </p:cNvCxnSpPr>
          <p:nvPr/>
        </p:nvCxnSpPr>
        <p:spPr>
          <a:xfrm>
            <a:off x="4906428" y="4094039"/>
            <a:ext cx="0" cy="3929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2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822</Words>
  <Application>Microsoft Office PowerPoint</Application>
  <PresentationFormat>寬螢幕</PresentationFormat>
  <Paragraphs>156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微軟正黑體</vt:lpstr>
      <vt:lpstr>標楷體</vt:lpstr>
      <vt:lpstr>Arial</vt:lpstr>
      <vt:lpstr>Calibri</vt:lpstr>
      <vt:lpstr>Calibri Light</vt:lpstr>
      <vt:lpstr>Cascadia Code</vt:lpstr>
      <vt:lpstr>Office 佈景主題</vt:lpstr>
      <vt:lpstr>翡翠流域管理費處理架構</vt:lpstr>
      <vt:lpstr>每月工作日程</vt:lpstr>
      <vt:lpstr>繳款工作的新概念</vt:lpstr>
      <vt:lpstr>Excel資料與程序關係圖</vt:lpstr>
      <vt:lpstr>子程序列表</vt:lpstr>
      <vt:lpstr>說明年繳戶的行政規費處理</vt:lpstr>
      <vt:lpstr>年繳清單處理流程</vt:lpstr>
      <vt:lpstr>季繳清單處理流程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Liu</dc:creator>
  <cp:lastModifiedBy>Vincent Liu</cp:lastModifiedBy>
  <cp:revision>16</cp:revision>
  <dcterms:created xsi:type="dcterms:W3CDTF">2026-01-27T15:04:39Z</dcterms:created>
  <dcterms:modified xsi:type="dcterms:W3CDTF">2026-02-11T01:59:56Z</dcterms:modified>
</cp:coreProperties>
</file>